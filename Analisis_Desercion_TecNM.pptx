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rturo Cruz Castillejos" userId="7812698eaebbe707" providerId="LiveId" clId="{3995F4C9-C683-4425-A786-31B62AEDB8C0}"/>
    <pc:docChg chg="modSld">
      <pc:chgData name="Daniel Arturo Cruz Castillejos" userId="7812698eaebbe707" providerId="LiveId" clId="{3995F4C9-C683-4425-A786-31B62AEDB8C0}" dt="2026-06-30T20:43:53.068" v="2" actId="1076"/>
      <pc:docMkLst>
        <pc:docMk/>
      </pc:docMkLst>
      <pc:sldChg chg="modSp mod">
        <pc:chgData name="Daniel Arturo Cruz Castillejos" userId="7812698eaebbe707" providerId="LiveId" clId="{3995F4C9-C683-4425-A786-31B62AEDB8C0}" dt="2026-06-30T20:43:53.068" v="2" actId="1076"/>
        <pc:sldMkLst>
          <pc:docMk/>
          <pc:sldMk cId="0" sldId="256"/>
        </pc:sldMkLst>
        <pc:spChg chg="mod">
          <ac:chgData name="Daniel Arturo Cruz Castillejos" userId="7812698eaebbe707" providerId="LiveId" clId="{3995F4C9-C683-4425-A786-31B62AEDB8C0}" dt="2026-06-30T20:43:50.542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iel Arturo Cruz Castillejos" userId="7812698eaebbe707" providerId="LiveId" clId="{3995F4C9-C683-4425-A786-31B62AEDB8C0}" dt="2026-06-30T20:43:53.068" v="2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aniel Arturo Cruz Castillejos" userId="7812698eaebbe707" providerId="LiveId" clId="{3995F4C9-C683-4425-A786-31B62AEDB8C0}" dt="2026-06-30T20:43:39.913" v="0" actId="1076"/>
        <pc:sldMkLst>
          <pc:docMk/>
          <pc:sldMk cId="0" sldId="272"/>
        </pc:sldMkLst>
        <pc:spChg chg="mod">
          <ac:chgData name="Daniel Arturo Cruz Castillejos" userId="7812698eaebbe707" providerId="LiveId" clId="{3995F4C9-C683-4425-A786-31B62AEDB8C0}" dt="2026-06-30T20:43:39.913" v="0" actId="1076"/>
          <ac:spMkLst>
            <pc:docMk/>
            <pc:sldMk cId="0" sldId="272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23-4848-9342-D031622D82C2}"/>
              </c:ext>
            </c:extLst>
          </c:dPt>
          <c:dPt>
            <c:idx val="1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23-4848-9342-D031622D82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Debe materias</c:v>
                </c:pt>
                <c:pt idx="1">
                  <c:v>No debe materias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396</c:v>
                </c:pt>
                <c:pt idx="1">
                  <c:v>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23-4848-9342-D031622D8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Intención de Baja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E6-40C5-9F32-484A5BBEFFD2}"/>
              </c:ext>
            </c:extLst>
          </c:dPt>
          <c:dPt>
            <c:idx val="1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E6-40C5-9F32-484A5BBEFF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E6-40C5-9F32-484A5BBEFF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E6-40C5-9F32-484A5BBEFF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Sí (115)</c:v>
                </c:pt>
                <c:pt idx="1">
                  <c:v>No (281)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</c:v>
                </c:pt>
                <c:pt idx="1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E6-40C5-9F32-484A5BBEF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Promedio de calificaciones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4A90E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7D-4C2E-9A2E-404A830FEE61}"/>
              </c:ext>
            </c:extLst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7D-4C2E-9A2E-404A830FEE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trabaja</c:v>
                </c:pt>
                <c:pt idx="1">
                  <c:v>Trabaja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75.260000000000005</c:v>
                </c:pt>
                <c:pt idx="1">
                  <c:v>72.3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7D-4C2E-9A2E-404A830FEE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% de estudiantes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02D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Renta vivienda</c:v>
                </c:pt>
                <c:pt idx="1">
                  <c:v>Foráneo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36.700000000000003</c:v>
                </c:pt>
                <c:pt idx="1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A-4E04-90A6-1D888989BA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Referencia</c:v>
                </c:pt>
              </c:strCache>
            </c:strRef>
          </c:tx>
          <c:spPr>
            <a:solidFill>
              <a:srgbClr val="BF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Renta vivienda</c:v>
                </c:pt>
                <c:pt idx="1">
                  <c:v>Foráneo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CA-4E04-90A6-1D888989BA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Promedio de calificaciones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4A90E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0D-4CE5-8D91-9916099705E8}"/>
              </c:ext>
            </c:extLst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0D-4CE5-8D91-9916099705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Sin dependientes</c:v>
                </c:pt>
                <c:pt idx="1">
                  <c:v>Con dependientes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74.849999999999994</c:v>
                </c:pt>
                <c:pt idx="1">
                  <c:v>70.77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0D-4CE5-8D91-9916099705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73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institucional de resultados del análisis estadístico de rezago académico y riesgo de deserción, base de 1,130 estudiantes de cinco ingenierías del TecNM Vistahermosa.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sintética de 1,130 registros. Importante: la variable 'Intención de Baja' solo fue recolectada para los 396 estudiantes que ya deben materias, por lo que todo análisis de deserción se circunscribe a ese subconjunto.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prioriza statsmodels sobre scikit-learn para conservar p-values e intervalos de confianza interpretables. En el modelo predictivo se excluyen deliberadamente promedio y materias adeudadas para evitar fuga de información (data leakage).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la proporción observada (35%) es menor al valor de referencia de 50%, la diferencia es estadísticamente extrema. El hallazgo relevante no es la dirección del signo de Z, sino la magnitud práctica: 396 estudiantes en rezago es una cifra demasiado grande para tratarse caso por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el rigor metodológico importa más: el resultado es estadísticamente marginal (p=0.077), distinto de la cifra fuertemente significativa reportada en el cuestionario preliminar. Se debe comunicar como tendencia a vigilar, no como hallazgo concluyente, evitando sobreinterpretar.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la proporción que trabaja es menor a la referencia, entre quienes sí trabajan más de la mitad supera las 20 horas semanales — el problema no es cuántos trabajan, sino la intensidad de quienes lo hacen.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Distinto de lo reportado de forma preliminar: la proporción que renta vivienda no resulta estadísticamente distinta de la referencia (p=0.229). Sí lo es la de foráneos.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heatmap evidencia tramos curriculares críticos en semestres intermedios y avanzados de varias ingenierías, lo que sugiere materias 'cuello de botella' que concentran reprobación.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Grupo minoritario pero con una penalización de rendimiento consistente y significativa.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 de casi 19 puntos de promedio entre quienes deben materias y quienes no — coincide con el coeficiente de la regresión múltiple del informe EDA (≈ -19 puntos).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Significativo pero de efecto modesto: importante distinguir significancia estadística de relevancia práctica, un principio central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principio metodológico que el modelo de Debe Materias: significancia estadística no es lo mismo que poder predictivo. Aquí el hallazgo accionable es claro: el número de materias adeudadas es la palanca más fuerte y la única estadísticamente significativa.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Simulación basada en el modelo logístico: no es un experimento causal, sino una proyección bajo el supuesto de que la intervención reduce el número de materias adeudadas. Sirve para dimensionar el impacto potencial y justificar la inversión en tutorías, no como garantía de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de los seis hallazgos centrales para cerrar la sección analítica antes de pasar a recomendaciones.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Recomendaciones derivadas directamente de los hallazgos: académicas, económicas, psicosociales y de flexibilización.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cuestionario complementa el análisis cuantitativo con datos directos de los estudiantes para validación y seguimiento longitudinal.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25164" y="0"/>
            <a:ext cx="3657600" cy="3657600"/>
          </a:xfrm>
          <a:prstGeom prst="ellipse">
            <a:avLst/>
          </a:prstGeom>
          <a:solidFill>
            <a:srgbClr val="4A90E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188" y="3931920"/>
            <a:ext cx="2926080" cy="2926080"/>
          </a:xfrm>
          <a:prstGeom prst="ellipse">
            <a:avLst/>
          </a:prstGeom>
          <a:solidFill>
            <a:srgbClr val="4A90E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Estadístico de Rezago y Deserción Escolar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Tecnológico de Vistahermosa — Reporte Institucional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Arturo Cruz Castillejos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Académico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Estudio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factores críticos asociados al rezago académico.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6060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el riesgo de deserción mediante análisis estadístico.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variables socioeconómicas, laborales y académicas.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8006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 acciones institucionales basadas en evidencia.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1554480"/>
            <a:ext cx="2834640" cy="420624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1664208"/>
            <a:ext cx="237744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estudio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1,130 estudiantes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programas de ingeniería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variables académicas y socioeconómicas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baja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 solo en el subconjunto de 396 estudiantes con materias pendientes.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Estadística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aplicadas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Z de proporciones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t de Welch (varianzas desiguales)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Levene (homogeneidad de varianzas)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 de un factor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Chi-cuadrada de independencia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Cramér's V (asociación categórica)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 múltiple (statsmodels)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Shapiro-Wilk (normalidad)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analizadas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Rezago académico (materias adeudadas)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(promedio de calificaciones)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laboral (trabaja, horas/semana)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(foráneo, renta de vivienda)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económica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familiar (dependientes)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baja (riesgo de deserción)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Rezago Académico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Z de proporciones (referencia p₀ = 0.50)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463040"/>
            <a:ext cx="438912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1572768"/>
            <a:ext cx="393192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1,130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 de los estudiantes debe materias (396 de 1,130)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−10.54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5.8 × 10⁻²⁶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proporción difiere de forma extremadamente significativa del 50% de referencia. Más de 1 de cada 3 estudiantes presenta rezago: un fenómeno estructural, no aislado.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Baja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Subconjunto de estudiantes con materias adeudadas (n = 396)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37160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463040"/>
            <a:ext cx="475488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572768"/>
            <a:ext cx="4297680" cy="407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 manifiesta intención de baja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(115 de 396 estudiantes con rezago)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1.77   p = 0.077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una referencia del 25%, la diferencia es marginal: no alcanza significancia convencional (p &gt; 0.05), pero la magnitud práctica es alta. Casi 3 de cada 10 estudiantes en rezago contemplan abandonar — una señal de alerta temprana, no una certeza estadística.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Laboral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y carga horaria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463040"/>
            <a:ext cx="475488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572768"/>
            <a:ext cx="429768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 trabaja actualmente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−4.21, p &lt; 0.001 (vs. ref. 30%)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50.7% de quienes trabajan lo hace +20 h/semana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13.58, p = 5.3 × 10⁻⁴² (vs. ref. 10%)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Promedio: 75.3 (no trabaja) vs. 72.3 (trabaja)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−4.16, p &lt; 0.001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Quienes trabajan más de 20 h/semana enfrentan una carga difícil de compatibilizar con el estudio.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 y Movilidad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 de vivienda y condición de foráneo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463040"/>
            <a:ext cx="420624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572768"/>
            <a:ext cx="374904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 vivienda: 36.7%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1.20, p = 0.229 (no significativo)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Foráneo: 23.5%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2.74, p = 0.006 (significativo)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proporción de foráneos es significativamente alta; la de quienes rentan vivienda es elevada pero no se distingue estadísticamente de lo esperado. Ambas implican gasto adicional en transporte, renta y alimentación.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Riesgo Curricular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estudiantes que debe materias, por carrera y semestre</a:t>
            </a:r>
            <a:endParaRPr lang="en-US" sz="1300" dirty="0"/>
          </a:p>
        </p:txBody>
      </p:sp>
      <p:pic>
        <p:nvPicPr>
          <p:cNvPr id="5" name="Image 0" descr="imgs/heatmap_carrera_semest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417320"/>
            <a:ext cx="97840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Familiar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bajo el cuidado del estudiante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463040"/>
            <a:ext cx="438912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1572768"/>
            <a:ext cx="3931920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 tiene personas bajo su cuidado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(88 de 1,130 estudiantes)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3.50, p &lt; 0.001 (vs. ref. 5%)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−3.55, p &lt; 0.001 (promedio)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es la proporción más baja entre los factores socioeconómicos, su efecto sobre el promedio es estadísticamente significativo: estos estudiantes enfrentan una doble carga, académica y familiar.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t: Promedio vs. Rezago Académico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medias con varianzas desiguales (Welch)</a:t>
            </a:r>
            <a:endParaRPr lang="en-US" sz="1300" dirty="0"/>
          </a:p>
        </p:txBody>
      </p:sp>
      <p:pic>
        <p:nvPicPr>
          <p:cNvPr id="5" name="Image 0" descr="imgs/boxplot_promedio_reza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17320"/>
            <a:ext cx="60350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554480"/>
            <a:ext cx="4572000" cy="4389120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664208"/>
            <a:ext cx="411480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materias: 62.16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debe materias: 81.21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Levene: p = 7.4 × 10⁻⁴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varianzas desiguales, se usa Welch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−46.13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≈ 4.7 × 10⁻²¹⁴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rezago es, con amplio margen, el factor más asociado a un menor rendimiento académico.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t: Promedio vs. Condición Laboral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medias con varianzas desiguales (Welch)</a:t>
            </a:r>
            <a:endParaRPr lang="en-US" sz="1300" dirty="0"/>
          </a:p>
        </p:txBody>
      </p:sp>
      <p:pic>
        <p:nvPicPr>
          <p:cNvPr id="5" name="Image 0" descr="imgs/boxplot_promedio_trabaj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17320"/>
            <a:ext cx="60350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554480"/>
            <a:ext cx="4572000" cy="4389120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664208"/>
            <a:ext cx="411480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Trabaja: 72.30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trabaja: 75.26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Levene: p = 0.048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−4.16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3.8 × 10⁻⁵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carga laboral afecta el rendimiento de forma estadísticamente significativa, aunque la magnitud (≈3 puntos) es menor que la del rezago.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Predictivo de Riesgo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 — Intención de Baja (n = 396, statsmodels)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00800" cy="39319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Odds Ratio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Materias adeudadas (cantidad)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0.009 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Trabaja más de 20 h/semana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Tiene dependientes a su cargo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foráneo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Trabaja (cualquier horario)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Renta vivienda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Semestre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Promedio de calificaciones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417320"/>
            <a:ext cx="4389120" cy="393192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1527048"/>
            <a:ext cx="393192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 R² = 0.036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0.62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predictor significativo: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materias adeudadas (p = 0.009). Cada materia adicional incrementa en ~50% las probabilidades (odds) de intención de baja.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 de las variables no alcanza significancia individual en este modelo. Capacidad predictiva modesta (AUC 0.62): útil para priorizar, no para decidir casos individuales.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Intervención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programa de regularización académica dirigida</a:t>
            </a:r>
            <a:endParaRPr lang="en-US" sz="1300" dirty="0"/>
          </a:p>
        </p:txBody>
      </p:sp>
      <p:pic>
        <p:nvPicPr>
          <p:cNvPr id="5" name="Image 0" descr="imgs/sim_regularizac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71600"/>
            <a:ext cx="60350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463040"/>
            <a:ext cx="4572000" cy="4389120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572768"/>
            <a:ext cx="411480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simulado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en 1 el número de materias adeudadas por estudiante (efecto esperado de tutorías y regularización dirigida).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promedio: 29.0% → 21.7%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relativa de ≈25%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en alto riesgo (≥40%): 49 → 15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 de 396 estudiantes (42%) adeudan 2 o más materias: población prioritaria para el programa.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Generales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Rezago masivo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de los estudiantes debe materias: un problema estructural, no aislado.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deserción presente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de quienes están en rezago manifiesta intención de baja (señal a vigilar).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16642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laboral y económica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33172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cada 2 estudiantes que trabaja lo hace +20 h/semana; afecta el promedio.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9959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vulnerable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 es foráneo, con gasto adicional de transporte y vivienda.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39959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familiar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4663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 cuida dependientes; doble carga académica y familiar.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023360"/>
            <a:ext cx="457200" cy="457200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39959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Tramos curriculares críticos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Semestres intermedios y avanzados concentran mayor rezago por carrera.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Institucionales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tutorías y regularización en semestres y materias de mayor rezago.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32888"/>
            <a:ext cx="292608" cy="29260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68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becas y apoyos económicos dirigidos a estudiantes foráneos.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93008"/>
            <a:ext cx="292608" cy="29260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429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Brindar acompañamiento psicosocial a estudiantes con intención de baja.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453128"/>
            <a:ext cx="292608" cy="29260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389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Flexibilizar horarios para quienes trabajan más de 20 horas semanales.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413248"/>
            <a:ext cx="292608" cy="29260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349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monitoreo temprano (alertas) para estudiantes con riesgo combinado.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Cuestionario para Estudiantes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 de validación, alineado con las variables del análisis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Datos académicos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Carrera, semestre, promedio, materias adeudadas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Condición laboral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¿Trabaja? Horas por semana, relación con la carrera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Economía y movilidad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Foráneo, renta de vivienda, gasto semanal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Responsabilidad familiar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566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bajo su cuidado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Intención de baja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120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baja, razón principal, dificultad percibida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Vistahermosa — TecNM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729" y="103239"/>
            <a:ext cx="3657600" cy="3657600"/>
          </a:xfrm>
          <a:prstGeom prst="ellipse">
            <a:avLst/>
          </a:prstGeom>
          <a:solidFill>
            <a:srgbClr val="4A90E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Académico — Tecnológico de Vistahermosa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1874</Words>
  <Application>Microsoft Office PowerPoint</Application>
  <PresentationFormat>Panorámica</PresentationFormat>
  <Paragraphs>248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Estadístico de Rezago y Deserción Escolar — TecNM Vistahermosa</dc:title>
  <dc:subject>PptxGenJS Presentation</dc:subject>
  <dc:creator>Daniel Arturo Cruz Castillejos</dc:creator>
  <cp:lastModifiedBy>Daniel Arturo Cruz Castillejos</cp:lastModifiedBy>
  <cp:revision>1</cp:revision>
  <dcterms:created xsi:type="dcterms:W3CDTF">2026-06-30T20:38:33Z</dcterms:created>
  <dcterms:modified xsi:type="dcterms:W3CDTF">2026-06-30T20:43:58Z</dcterms:modified>
</cp:coreProperties>
</file>